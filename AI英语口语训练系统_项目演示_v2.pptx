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英语口语训练系统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基于自然语言处理与大语言模型的智能口语学习平台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2743200" cy="1828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46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✅ 已完成  |  V2.0 ✅ 已完成  |  V3.0 规划中  |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AI 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+ TypeScript + Spring Boot 3.2 + MySQL 8.0 + Flyway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项目背景与价值主张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涵盖全年龄段（6-99 岁），V1.0 核心群体：K12 学生（12-18 岁）+ 大学生（四六级口语考试）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练习机会匮乏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755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课堂时间有限，40+ 人班人均练习不足 5 分钟，口语训练严重不足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反馈不及时不准确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依赖人工批改，等待周期长；主观性强，缺乏标准化的音素级纠错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培训成本高昂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线下外教一对一 300-500 元/课时，年花费上万元，普通家庭难以承受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84048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时空限制严重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4300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线下机构时间固定、地点受限；成人难以在工作之余抽出固定时间学习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5544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150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本系统解决方案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521208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6235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驱动个性化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9494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NLP+LLM，自适应调整难度与学习内容，模拟外教互动体验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212080" y="26243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23560" y="2624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音素级发音评测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949440" y="2624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精确到 44 个英语音素的评分纠正 + 逐词颜色反馈（红/黄/绿）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212080" y="30998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623560" y="30998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全天候情景对话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49440" y="30998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5→60+ 场景 × 多轮角色扮演，随时随地开口练习，不受时空限制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212080" y="35753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623560" y="35753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全年龄段覆盖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949440" y="35753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儿童/青少年/大学生/职场人士/中老年，分龄分层的个性化学习路径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212080" y="4050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62356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学习闭环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949440" y="4050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"测→评→练→看" 四位一体闭环，数据驱动学习效果持续提升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640080" y="46634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核心用户群：K12 学生（中考/高考口语应试）· 大学生（四六级口语考试）· 职场人士（商务英语）· 中老年（兴趣学习）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产品功能全景图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大功能模块 × 3 版本演进，40 天完整交付路线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增强版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完整版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1280160"/>
            <a:ext cx="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用户中心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755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注册/登录 + 基础画像（年龄+目标三选一）+ 个人资料管理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多维画像（学习偏好/可用时间/薄弱项标签）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安全中心（密码修改/设备管理/注销）+ 微信OAuth登录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412480" y="1856232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8562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85953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2677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智能测评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题固定题 + 初中高三档定级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2286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IRT 自适应出题 + CEFR 六级标准对标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—（V2 已完整）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412480" y="2386584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86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798064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7980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口语训练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816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场景 × 多轮对话 + 三维评分（准确度/流利度/完整度）+ 逐词颜色+音素纠错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0" y="2816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场景 + 五维评测（准确度/重音/连读/语调/节奏）+ 语法纠错/角色扮演独立入口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40880" y="2816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话题陈述新题型（30s准备+1-2min陈述+LLM评估）+ 离线跟读模式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12480" y="2916936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29169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3328416"/>
            <a:ext cx="85953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3284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学习数据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3346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张数字卡片（天数/次数/平均分）+ 2 条折线图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0" y="33467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雷达图（多维度）+ 打卡热力图 + 场景分布饼图 + 学习路径规划 + 资料推荐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40880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学习效果预测 + 预警通知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412480" y="3447288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3447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858768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游戏化与社区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38770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—（V2 新增）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0" y="38770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闯关模式 + 单词PK + 积分勋章 + 排行榜 + 学习小组 + 语音挑战 + 匿名互评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40880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412480" y="3977640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0" y="39776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✅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管理后台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0" y="4407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29200" y="4407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40880" y="4407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教师端（班级管理/作业点评/个体报告）+ 运营端（用户管理/内容审核/数据看板/CSV导出）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412480" y="4507992"/>
            <a:ext cx="43891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0" y="45079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规划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4919472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4919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智能客服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00400" y="4937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0" y="4937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4088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 帮助中心 + LLM RAG 对话客服（目标自动解决率&gt;60%）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412480" y="5038344"/>
            <a:ext cx="43891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9" name="Text 57"/>
          <p:cNvSpPr/>
          <p:nvPr/>
        </p:nvSpPr>
        <p:spPr>
          <a:xfrm>
            <a:off x="8412480" y="50383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规划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4846320"/>
            <a:ext cx="8595360" cy="1828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版本节奏：V1.0（15 天）→ V2.0（15 天）→ V3.0（10 天）= 共 40 天 | 团队：3 人并行（前端 + 后端 + 全栈）| 总投入：120 人天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系统架构总览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六层分层 + AI Gateway 统一代理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用户终端层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276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Chrome/Safari/Firefox/Edge · 移动 iOS Safari/Android Chrome · 微信内置浏览器 · 响应式适配 375px~1280px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8229600" cy="47548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SPA 层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51560" y="217627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+ TypeScript + Tailwind CSS 4 + Zustand 5 + React Router v7 · 12 页面 · 录音组件（Web Audio API + MediaRecorder）· IndexedDB 离线暂存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" y="2468880"/>
            <a:ext cx="8229600" cy="475488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网关 / 中间件层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51560" y="272491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 + Spring Security + JWT 双 Token 续期 · 全局限流（注册3/min/IP, 登录10/min/IP, 评测1/s/用户）· CORS 白名单 · 审计日志 append-only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57200" y="3017520"/>
            <a:ext cx="8229600" cy="47548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业务服务层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51560" y="327355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用户服务 · 测评服务 · 口语训练服务 · 对话编排服务 · 独立评分服务（Temp=0.1-0.3）· 进度聚合服务 · Controller→Service→Mapper 三层架构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457200" y="3566160"/>
            <a:ext cx="8229600" cy="475488"/>
          </a:xfrm>
          <a:prstGeom prst="rect">
            <a:avLst/>
          </a:prstGeom>
          <a:solidFill>
            <a:srgbClr val="4338C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适配器层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051560" y="382219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LlmAdapter 接口 · RealLlmAdapter（生产）· MockLlmAdapter（开发/测试零成本）· ASR/发音评测/TTS Adapter · 音频处理链（ffmpeg 转码→16kHz Mono WAV）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457200" y="4114800"/>
            <a:ext cx="8229600" cy="47548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5156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数据存储层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051560" y="43708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InnoDB（10+ 张表, 全部 UTC）· Flyway 版本化迁移（up+undo）· 本地磁盘音频存储（168h 定时删除）· V2 迁 OSS + Redis 缓存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2286000" y="4709160"/>
            <a:ext cx="4572000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0" name="Text 22"/>
          <p:cNvSpPr/>
          <p:nvPr/>
        </p:nvSpPr>
        <p:spPr>
          <a:xfrm>
            <a:off x="2377440" y="47091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AI 服务：ASR（腾讯云/阿里云 NUI）· 发音评测（驰声/讯飞）· LLM（DeepSeek/通义千问/GPT）· TTS（Edge TTS 离线预生成）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前端技术栈详解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SPA + TypeScript 类型安全 + Tailwind CSS 4 原子化样式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框架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Hooks + 并发渲染 + Suspense 流式输出，组件粒度：12 页面 + 10+ 共享组件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函数组件 + Hooks（useState/useEffect/useCallback）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并发特性（useTransition）用于对话流式渲染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Suspense + ErrorBoundary 异步加载与错误兜底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2588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类型系统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严格模式，接口定义覆盖所有 API 请求/响应 + 组件 Props + Zustand 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strict: true 编译时错误检测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响应类型定义（ResponseVO&lt;T&gt; 泛型）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414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组件 Props 接口强制约束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4320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样式方案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原子化 CSS + 响应式断点（sm/md/lg/xl），主题色变量统一管理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429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@theme 自定义 Design Tokens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630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darkMode 支持深色模式切换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8313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375px~1280px 响应式布局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4320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轻量全局状态（&lt; 2KB），替代 Redux，支持持久化中间件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429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authStore：用户信息 + JWT Token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630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practiceStore：录音/评测临时状态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38313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conversationStore：对话消息流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16052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16052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19456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路由管理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客户端路由 + 懒加载 + 路由守卫（AuthGuard 未登录拦截）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lazy() 页面级代码分割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5047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AuthGuard 组件拦截未登录访问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52486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嵌套路由：/practice/pronounce/:id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416052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416052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8368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客户端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拦截器链：JWT 自动附带 + Token 过期自动刷新 + 弱网重试 3 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3776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request 拦截器：自动注入 Authorization Header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37760" y="5047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response 拦截器：401 → 自动 refreshToken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52486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指数退避重试（500ms/1s/2s）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557784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557784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2286000" y="5669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音频采集 · MediaRecorder + AudioContext，四平台兼容（含微信浏览器 WebM 降级）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" y="6035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Push-to-Talk 长按录音交互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" y="62636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MIME 检测：优先 WAV，微信降级 WebM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波形呼吸灯动画 + 时长/大小校验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后端技术栈详解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 多模块 Maven 项目 + AI Gateway 适配器架构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17+ 企业级应用框架，内嵌 Tomcat，自动配置 + Starter 依赖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@RestController + @Service + @Mapper 三层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 ResponseVO(code, message, data) 响应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@ControllerAdvice 全局异常处理 + 友好文案映射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3957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@Scheduled 定时任务（语音 168h 删除）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8016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609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 ORM，Lambda 查询包装器 + 自动分页 + 逻辑删除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@TableName 明确映射表名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2029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id-type: AUTO 数据库自增主键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LambdaQueryWrapper 类型安全查询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23957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PaginationInnerInterceptor 分页插件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6032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+ Flyway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InnoDB 事务引擎 + 版本化 SQL 迁移管理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127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Flyway 命名：V{version}__{desc}.sql（双下划线）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undo/ 子目录存放回滚脚本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3493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所有时间字段 UTC 存储，前端按浏览器时区展示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6758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JSON 列支持半结构化数据存储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56032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6032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认证鉴权：JWT 双 Token（Access 2h / Refresh 7d）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127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OncePerRequestFilter 拦截所有 /api/v1/* 请求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开发：Authorization Header Bearer Token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0" y="3493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生产：httpOnly+Secure+SameSite=Strict Cookie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0" y="36758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环境变量 JWT_STORAGE_MODE 控制读取方式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84048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41696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模式：统一接口隔离第三方 AI API 变更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4074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LlmAdapter 接口（chat / score / pronounceEval）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45902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RealLlmAdapter：生产环境对接真实 API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" y="4773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MockLlmAdapter：开发/测试零成本调用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8640" y="4956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超时/重试/限流/熔断统一管控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84048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84048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多模块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37760" y="41696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es-server · es-ai-gateway · es-modules(5) · es-common · es-security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4074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es-server：Spring Boot 启动入口 + 全局配置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45902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es-modules/es-user：用户注册/登录/资料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37760" y="4773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es-modules/es-assessment：测评出题/判分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37760" y="4956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es-modules/es-practice：发音评测+情景对话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0" y="51389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es-modules/es-learning：学习进度聚合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37760" y="5321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es-modules/es-gamification：游戏化预留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Gateway 适配器架构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模式 — 统一接口隔离第三方 API，Mock/Real 双实现，业务代码零改动切换供应商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37744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237744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PracticeServiceImpl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ConversationServiceImpl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AssessmentServiceImpl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ProgressServiceImpl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UserServiceImpl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371600"/>
            <a:ext cx="338328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0360" y="1371600"/>
            <a:ext cx="3383280" cy="411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44475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3832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LlmAdapter 接口层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17520" y="1920240"/>
            <a:ext cx="3108960" cy="1097280"/>
          </a:xfrm>
          <a:prstGeom prst="rect">
            <a:avLst/>
          </a:prstGeom>
          <a:solidFill>
            <a:srgbClr val="1A365D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1546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&lt;&lt;Interface&gt;&gt; LlmAdapter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2240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chat(sessionId, messages): ChatResult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46120" y="2423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scoreEval(sessionId, history): ScoreResult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46120" y="2606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pronounceEval(audio, text): EvalResult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46120" y="2788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textToSpeech(text): AudioFile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017520" y="3200400"/>
            <a:ext cx="1417320" cy="91440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3108960" y="32461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RealLlmAdapter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10896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对接真实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超时/重试/限流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0" y="3200400"/>
            <a:ext cx="1417320" cy="91440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32461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MockLlmAdapter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6344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开发/测试环境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返回预置数据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零成本零配额消耗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01752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音频处理链： WebM→ffmpeg→16kHz Mono WAV → API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92240" y="1371600"/>
            <a:ext cx="237744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7"/>
          <p:cNvSpPr/>
          <p:nvPr/>
        </p:nvSpPr>
        <p:spPr>
          <a:xfrm>
            <a:off x="6492240" y="1371600"/>
            <a:ext cx="23774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64922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第三方 AI 服务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62940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ASR 语音识别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62940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发音评测 API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6294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LLM 对话模型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62940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LLM 独立评分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62940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TTS 语音合成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6060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172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74320" y="4800600"/>
            <a:ext cx="8595360" cy="27432"/>
          </a:xfrm>
          <a:prstGeom prst="rect">
            <a:avLst/>
          </a:prstGeom>
          <a:solidFill>
            <a:srgbClr val="64748B">
              <a:alpha val="4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设计决策：① Mock 适配器 → 开发/测试零成本 ② Real 适配器 → 生产对接真实 API ③ 统一接口 → 切换供应商仅需新增适配器类 ④ API Key 仅后端持有 → 前端零密钥暴露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MVP 功能模块详解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已完成  |  13 API 接口 + 12 前端页面 + 568 测试用例  |  15 天 × 3 人 = 45 人天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69748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533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280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用户中心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" y="18288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邮箱/手机号注册 + JWT 双 Token（Access 2h / Refresh 7d）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4048" y="21031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年龄采集（6 段：儿童→中老年）+ 学习目标三选一（应试/职场/兴趣）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23774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个人资料管理：昵称、头像、学习目标修改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84048" y="26517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JWT 读取策略：开发环境 Header Bearer，生产环境 httpOnly Cookie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4048" y="29260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登录锁定机制：连续 5 次失败锁定 15 分钟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54680" y="128016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1280160"/>
            <a:ext cx="2697480" cy="4572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35331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1280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智能测评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264408" y="18288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 道固定题，覆盖初中高三档难度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64408" y="21031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题型：单选题 + 填空题 + 听力理解 + 口语跟读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264408" y="23774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评分逻辑：客观题自动判分 + 口语题 LLM 评分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264408" y="26517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定级算法：得分区间 → 初/中/高三级 → 推荐练习难度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264408" y="29260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测评报告：总分 + 分项得分 + 强弱项分析 + 学习建议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035040" y="128016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35040" y="128016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35331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92240" y="1280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发音评测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144768" y="18288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用户跟读标准发音 → 录音上传 → ASR 转写 → 发音评测 API 评分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144768" y="21031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三维评分体系：准确度（40%）+ 流利度（30%）+ 完整度（30%）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144768" y="23774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逐词颜色反馈：绿色（优秀）/ 黄色（一般）/ 红色（需改进）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144768" y="26517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音素级纠错：精确标注 44 个英语音素中发音不准的音素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144768" y="29260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音频校验：≤60 秒时长、≥1KB 大小、16kHz 采样率强制校验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1691640" y="34747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691640" y="3474720"/>
            <a:ext cx="2697480" cy="4572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3547872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14884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智能情景对话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801368" y="40233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 个主题场景：餐厅点餐/酒店入住/机场出行/校园生活/职场面试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1801368" y="42976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每场景 5 轮 AI 角色扮演对话，动态生成回复 + TTS 语音播报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801368" y="45720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场景选择页：卡片式展示（场景图标 + 难度标签 + 场景简介）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1801368" y="48463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对话结束 → 独立 LLM 评分调用（Temperature=0.1-0.3，评估语法/词汇/流利）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1801368" y="51206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评分弹窗：总分 + 分项得分 + AI 评语 + 改进建议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4572000" y="34747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4572000" y="3474720"/>
            <a:ext cx="2697480" cy="457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547872"/>
            <a:ext cx="274320" cy="2743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02920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学习进度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4681728" y="40233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 张数字卡片：累计学习天数 + 总对话次数 + 发音平均分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4681728" y="42976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 条折线图：发音得分趋势（按日聚合）+ 对话完成率趋势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4681728" y="45720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数据来源：cross-table 多表聚合查询，Redis 缓存热点数据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4681728" y="48463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V1 阶段折线图暂用静态占位，V1.1 启用 Recharts 动态图表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4681728" y="51206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空状态引导：新用户无数据时展示友好引导文案 + 去练习按钮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 增强版功能详解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已完成  |  15 天 × 3 人 = 45 人天  |  核心目标：游戏化留存 + 社区裂变 + 场景扩展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新增模块：游戏化与社区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语音闯关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主题关卡链（如「餐厅」→「酒店」→「机场」）,逐关解锁，完成条件：评分 ≥ 60 分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267712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单词 PK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随机匹配对手，异步对比分数（不做实时对战降低复杂度），积分排名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706624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7066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积分勋章系统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积分规则（练习+5, 闯关+20, PK胜+30），勋章（连续7天/发音满分/百句对话）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145536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1455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积分榜 + 闯关进度榜 + 周活跃榜，Redis Sorted Set 实时排序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584448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5844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学习小组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创建/加入小组（≤20 人），组内语音挑战任务，组排行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匿名互评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组内成员匿名听取并打分，互评分配引擎自动随机分配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0759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120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模块升级 + 新增能力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846320" y="182880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口语训练升级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02920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场景 → 60+ 场景（10 大主题 × 6 场景），五维评测（准确度/重音/连读/语调/节奏），语法纠错 + 角色扮演独立入口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46320" y="2267712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1"/>
          <p:cNvSpPr/>
          <p:nvPr/>
        </p:nvSpPr>
        <p:spPr>
          <a:xfrm>
            <a:off x="5029200" y="22677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学习数据升级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02920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新增雷达图（多维度能力）+ 打卡热力图（全年）+ 场景分布饼图 + 每日推送任务 + 日历打卡 + 资料推荐（协同过滤）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46320" y="270662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4"/>
          <p:cNvSpPr/>
          <p:nvPr/>
        </p:nvSpPr>
        <p:spPr>
          <a:xfrm>
            <a:off x="5029200" y="2706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用户中心升级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02920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基础画像 → 多维画像（学习偏好/可用时间/薄弱项标签），学习路径：3 条预设 + 动态生成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846320" y="314553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7"/>
          <p:cNvSpPr/>
          <p:nvPr/>
        </p:nvSpPr>
        <p:spPr>
          <a:xfrm>
            <a:off x="5029200" y="31455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 ASR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实时语音识别，边说话边出字，替换 V1 的整段上传→等待识别模式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846320" y="358444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0"/>
          <p:cNvSpPr/>
          <p:nvPr/>
        </p:nvSpPr>
        <p:spPr>
          <a:xfrm>
            <a:off x="5029200" y="3584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加速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502920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音频文件分发 CDN，全国节点加速加载，首包延迟 &lt; 500ms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846320" y="402336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3"/>
          <p:cNvSpPr/>
          <p:nvPr/>
        </p:nvSpPr>
        <p:spPr>
          <a:xfrm>
            <a:off x="5029200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成功指标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502920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次日留存 &gt;40% · 7日留存 &gt;25% · 人均日练习 &gt;5 次 · 社区日均 UGC &gt;100 条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 完整版功能详解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状态：🟣 规划中  |  10 天 × 3 人 = 30 人天  |  核心目标：管理后台 + B 端基础 + C 端体验升级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管理后台（新增模块六）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教师端 — 班级管理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 CRUD + 邀请码生成/加入，班级花名册，学生批量导入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267712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267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教师端 — 作业系统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作业布置（选择场景+设置要求+定时发布），文字/语音点评，全班概览 + 个体报告 + CSV 导出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706624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7066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运营端 — 用户管理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用户搜索（ID/手机/邮箱）+ 详情查看 + 封禁/解封 + 操作日志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145536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145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运营端 — 内容审核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预审（敏感词/违规检测）→ 人工复审队列 → 批量通过/驳回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584448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5844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运营端 — 数据看板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DAU / MAU / 留存率 / 付费转化率 / 渠道来源 / 功能使用排行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023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权限体系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8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角色：教师/运营/管理员，资源级权限控制，操作日志全记录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0759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120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端升级（模块七 + 增强）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846320" y="182880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智能客服（模块七）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02920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 帮助中心 + LLM RAG 对话客服，知识库覆盖全部功能，目标自动解决率 &gt;60%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46320" y="2267712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1"/>
          <p:cNvSpPr/>
          <p:nvPr/>
        </p:nvSpPr>
        <p:spPr>
          <a:xfrm>
            <a:off x="5029200" y="2267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 TTS 流式播报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02920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AI 回复支持流式 TTS 语音合成，将「文本对话」升级为「语音对话」沉浸式体验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46320" y="270662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4"/>
          <p:cNvSpPr/>
          <p:nvPr/>
        </p:nvSpPr>
        <p:spPr>
          <a:xfrm>
            <a:off x="5029200" y="2706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话题陈述新题型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02920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秒准备 + 1-2 分钟自由陈述 + LLM 综合评估（内容/逻辑/语法/发音），模拟口语考试题型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846320" y="314553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7"/>
          <p:cNvSpPr/>
          <p:nvPr/>
        </p:nvSpPr>
        <p:spPr>
          <a:xfrm>
            <a:off x="5029200" y="3145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账号安全中心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02920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密码修改 · 设备管理（查看/踢出登录设备）· 账号注销（7 天冷静期）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846320" y="358444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0"/>
          <p:cNvSpPr/>
          <p:nvPr/>
        </p:nvSpPr>
        <p:spPr>
          <a:xfrm>
            <a:off x="5029200" y="3584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 OAuth 登录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02920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微信公众号/小程序内一键授权登录，降低注册门槛，无需填写手机号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846320" y="402336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3"/>
          <p:cNvSpPr/>
          <p:nvPr/>
        </p:nvSpPr>
        <p:spPr>
          <a:xfrm>
            <a:off x="5029200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离线跟读模式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02920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下载离线包（≤50MB），无网络环境跟读练习，联网后自动同步学习记录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三版本迭代路线图与排期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人团队 × 40 天 × 120 人天 = 从 MVP 到完整版全功能覆盖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810512" y="143560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2377440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1-15 · 45 人天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67712" y="1938528"/>
            <a:ext cx="71323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2267712" y="1938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2296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初始化+探路（3天）：项目搭建 + Flyway建库 + AI Gateway框架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944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核心开发（9天）：5模块全功能 + 5场景对话 + 三维评测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" y="34198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联调上线（3天）：录音兼容优化 + 压测 + 冒烟测试 + 生产部署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370832" y="1435608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3291840" y="18288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91840" y="1828800"/>
            <a:ext cx="2377440" cy="5029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202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4904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增强版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74904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16-30 · 45 人天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828032" y="1938528"/>
            <a:ext cx="71323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0"/>
          <p:cNvSpPr/>
          <p:nvPr/>
        </p:nvSpPr>
        <p:spPr>
          <a:xfrm>
            <a:off x="4828032" y="1938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38328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模块升级（5天）：60+场景 + 五维评测 + 流式ASR + 雷达图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383280" y="2944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游戏化（5天）：闯关+PK+勋章+排行榜+配音挑战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383280" y="34198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社区+路径（3天）：小组+语音挑战+互评+学习路径+CDN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383280" y="389534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联调上线（2天）：1000并发压测 + 灰度发布 + 冒烟测试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6931152" y="1435608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Shape 26"/>
          <p:cNvSpPr/>
          <p:nvPr/>
        </p:nvSpPr>
        <p:spPr>
          <a:xfrm>
            <a:off x="5852160" y="18288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852160" y="1828800"/>
            <a:ext cx="2377440" cy="5029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202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0936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完整版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30936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31-40 · 30 人天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7388352" y="1938528"/>
            <a:ext cx="71323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1"/>
          <p:cNvSpPr/>
          <p:nvPr/>
        </p:nvSpPr>
        <p:spPr>
          <a:xfrm>
            <a:off x="7388352" y="1938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🟣 规划中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594360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管理后台（4天）：教师端+运营端+RBAC+Elasticsearch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943600" y="2944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C端升级（4天）：智能客服+实时TTS+话题陈述+微信OAuth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5943600" y="34198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联调上线（2天）：5000并发压测+全链路监控+运营培训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274320" y="4892040"/>
            <a:ext cx="8595360" cy="27432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资源估算：V1.0 ~50 元 API 费用 + ~100 元/月服务器 | V2.0 ~500 元 + ~300 元/月 | V3.0 ~1000 元 + ~500 元/月 | 合计 API ~1550 元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核心业务流程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发音评测流程（左）+ 智能对话流程（右），展示完整的「测→评→练→看」闭环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发音评测流程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选择练习内容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从系统预设的跟读句子列表中选择，展示标准文本 + TTS 示范发音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59152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录音采集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Push-to-Talk 长按录音，Web Audio API 采集，MIME 检测（优先 WAV，微信降级 WebM）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9504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音频预处理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127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ffmpeg 转码：统一 16kHz Mono WAV 格式，时长校验 ≤60s，大小校验 ≥1KB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19856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381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AI Gateway 处理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语音转文本 → 发音评测 API 比对标准发音 → 返回音素级评分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50208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68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结果渲染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87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三维评分展示 + 逐词颜色标记（红/黄/绿）+ 音素纠错面板 + 重练按钮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智能对话流程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46320" y="182880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1828800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场景选择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个场景卡片（餐厅/酒店/机场/校园/职场），选择场景 + 难度等级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359152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2359152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创建会话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2596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后端创建 Session，加载场景 Prompt 模板 + 角色设定（服务员/前台/面试官等）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889504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2889504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多轮对话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127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用户录音 → ASR 转写 → LLM 对话（动态 Temperature）→ AI 回复 → TTS 语音播报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3419856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419856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4381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轮次控制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657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轮对话逐轮推进，每轮用户录音时长限制 60s，超时自动进入下一轮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950208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6320" y="3950208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3968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独立评分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0" y="4187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对话结束 → 单独 LLM 调用评分（Temp=0.1-0.3, 语法 40%/词汇 30%/流利 30%）→ 评分弹窗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安全保障体系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生产级安全防护 — 7 大安全策略全面覆盖 OWASP Top 10 常见风险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34440"/>
            <a:ext cx="45720" cy="80467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零前端暴露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307592"/>
            <a:ext cx="731520" cy="18288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307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机密性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11480" y="16002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所有第三方 AI API 调用统一走后端 AI Gateway 代理，前端代码中不存储任何 API Key。ASR/评测/LLM/TTS 全部经后端转发，网路抓包也无法获取密钥。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234440"/>
            <a:ext cx="45720" cy="80467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58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字段级答案过滤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63840" y="1307592"/>
            <a:ext cx="731520" cy="18288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1307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4800600" y="16002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测评题目表 assessment_questions.correct_answer 在 API 响应序列化层强制白名单排除。即使后端误返回，中间件 AnswerFilter 也会自动 strip 该字段。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2167128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274320" y="2167128"/>
            <a:ext cx="45720" cy="80467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585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212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注入防护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474720" y="2240280"/>
            <a:ext cx="731520" cy="18288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347472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注入防御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411480" y="25328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用户语音 ASR 转写文本：① 长度限制 ≤500 字符强制截断 ② 敏感词正则检测（过滤「Ignore」「System」「指令」等）③ LLM 输出敏感内容兜底替换。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663440" y="2167128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1"/>
          <p:cNvSpPr/>
          <p:nvPr/>
        </p:nvSpPr>
        <p:spPr>
          <a:xfrm>
            <a:off x="4663440" y="2167128"/>
            <a:ext cx="45720" cy="80467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585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66360" y="2212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安全存储策略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863840" y="2240280"/>
            <a:ext cx="731520" cy="18288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86384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认证安全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4800600" y="25328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开发环境：localStorage + Authorization Header。生产环境：httpOnly + Secure + SameSite=Strict Cookie。后端同时支持两种读取方式，环境变量 JWT_STORAGE_MODE 控制。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274320" y="3099816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7"/>
          <p:cNvSpPr/>
          <p:nvPr/>
        </p:nvSpPr>
        <p:spPr>
          <a:xfrm>
            <a:off x="274320" y="3099816"/>
            <a:ext cx="45720" cy="80467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91256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7724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域名白名单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3474720" y="3172968"/>
            <a:ext cx="731520" cy="1828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3474720" y="3172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跨域安全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411480" y="3465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 Access-Control-Allow-Origin 严格限制为具体域名，禁用 * 通配符。CSP 头限制脚本来源，CSRF Token 双重防护。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663440" y="3099816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Shape 33"/>
          <p:cNvSpPr/>
          <p:nvPr/>
        </p:nvSpPr>
        <p:spPr>
          <a:xfrm>
            <a:off x="4663440" y="3099816"/>
            <a:ext cx="45720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191256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16636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评分与对话分离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7863840" y="3172968"/>
            <a:ext cx="731520" cy="18288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7863840" y="3172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逻辑安全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4800600" y="3465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Prompt 中绝不嵌入评分指令。对话结束后独立一次 LLM 调用评分，使用低 Temperature（0.1-0.3）确保一致性和客观性，权重：语法 40% + 词汇 30% + 流利 30%。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274320" y="4032504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Shape 39"/>
          <p:cNvSpPr/>
          <p:nvPr/>
        </p:nvSpPr>
        <p:spPr>
          <a:xfrm>
            <a:off x="274320" y="4032504"/>
            <a:ext cx="45720" cy="8046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23944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77240" y="4078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审计与数据生命周期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3474720" y="4105656"/>
            <a:ext cx="731520" cy="18288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1" name="Text 42"/>
          <p:cNvSpPr/>
          <p:nvPr/>
        </p:nvSpPr>
        <p:spPr>
          <a:xfrm>
            <a:off x="3474720" y="41056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700" dirty="0"/>
          </a:p>
        </p:txBody>
      </p:sp>
      <p:sp>
        <p:nvSpPr>
          <p:cNvPr id="52" name="Text 43"/>
          <p:cNvSpPr/>
          <p:nvPr/>
        </p:nvSpPr>
        <p:spPr>
          <a:xfrm>
            <a:off x="411480" y="43982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API 操作 append-only 记录至 audit_logs 表，不可篡改。语音文件 168 小时（7 天）定时删除（@Scheduled 每小时轮询）。全局限流：注册 3/min/IP, 登录 10/min/IP, 评测 1/s/用户。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4663440" y="4032504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4" name="Shape 45"/>
          <p:cNvSpPr/>
          <p:nvPr/>
        </p:nvSpPr>
        <p:spPr>
          <a:xfrm>
            <a:off x="4663440" y="4032504"/>
            <a:ext cx="45720" cy="80467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123944"/>
            <a:ext cx="274320" cy="27432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166360" y="4078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友好错误文案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7863840" y="4105656"/>
            <a:ext cx="731520" cy="18288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58" name="Text 48"/>
          <p:cNvSpPr/>
          <p:nvPr/>
        </p:nvSpPr>
        <p:spPr>
          <a:xfrm>
            <a:off x="7863840" y="41056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</a:t>
            </a:r>
            <a:endParaRPr lang="en-US" sz="700" dirty="0"/>
          </a:p>
        </p:txBody>
      </p:sp>
      <p:sp>
        <p:nvSpPr>
          <p:cNvPr id="59" name="Text 49"/>
          <p:cNvSpPr/>
          <p:nvPr/>
        </p:nvSpPr>
        <p:spPr>
          <a:xfrm>
            <a:off x="4800600" y="43982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禁止向用户展示技术术语（confidence&lt;0.3、HTTP 500、JSON parse error、timeout）。错误统一映射为已批准的友好文案，如「评测遇到问题，请稍后重试」。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数据库设计与工程规范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InnoDB + Flyway 版本化迁移 + 代码工程规范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核心表结构（10+ 张）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2029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· assessment_questions · assessment_records · practice_records · conversation_sessions · conversation_messages · conversation_scores · user_progress · audit_logs · user_achievements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2304288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304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引擎与字符集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25054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InnoDB 引擎（行锁 + 事务 + 外键），utf8mb4 字符集（支持 emoji），utf8mb4_unicode_ci 排序规则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2779776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7797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时间字段规范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2980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所有时间字段统一 UTC 存储（created_at/updated_at），前端按浏览器时区（Intl.DateTimeFormat）展示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3255264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2552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主键策略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34564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自增 BIGINT 主键（id-type: AUTO），@TableName 明确映射表名，避免 MyBatis-Plus 默认命名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3730752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迁移规范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3931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命名：V{version}__{description}.sql（双下划线），每次迁移同时编写 undo/ 子目录回滚脚本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列扩展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8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半结构化数据使用 JSON 列存储（如评测详情、对话元数据），预留 feature_flags 字段支持版本平滑升级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0759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120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工程规范与代码质量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846320" y="182880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0" y="1828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设计规范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029200" y="2029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路径前缀 /api/v1/，统一响应体 ResponseVO(code, message, data)，HTTP 状态码语义正确（200/201/400/401/404/500）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846320" y="2304288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1"/>
          <p:cNvSpPr/>
          <p:nvPr/>
        </p:nvSpPr>
        <p:spPr>
          <a:xfrm>
            <a:off x="5029200" y="2304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三层分层架构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029200" y="25054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Controller（接收请求+参数校验）→ Service（业务逻辑编排）→ Mapper（MyBatis-Plus 数据访问），层间通过接口解耦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846320" y="2779776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4"/>
          <p:cNvSpPr/>
          <p:nvPr/>
        </p:nvSpPr>
        <p:spPr>
          <a:xfrm>
            <a:off x="5029200" y="27797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多模块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029200" y="2980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es-server（启动入口）· es-ai-gateway（AI代理）· es-modules（5 业务模块）· es-common（公共工具）· es-security（安全）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4846320" y="3255264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7"/>
          <p:cNvSpPr/>
          <p:nvPr/>
        </p:nvSpPr>
        <p:spPr>
          <a:xfrm>
            <a:off x="5029200" y="32552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测试策略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029200" y="34564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568 测试用例：单元测试（JUnit 5 + Mockito）+ API 契约测试 + 前后端集成测试 + 安全合规测试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4846320" y="3730752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0"/>
          <p:cNvSpPr/>
          <p:nvPr/>
        </p:nvSpPr>
        <p:spPr>
          <a:xfrm>
            <a:off x="5029200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文档与注释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029200" y="3931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中文文档优先（PRD/HLD/API设计/DB设计），代码标识符英文，注释简洁说明 WHY（非 WHAT）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4846320" y="420624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3"/>
          <p:cNvSpPr/>
          <p:nvPr/>
        </p:nvSpPr>
        <p:spPr>
          <a:xfrm>
            <a:off x="502920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协作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02920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Claude Code 子智能体：BE（后端开发）· FE（前端开发）· QA（测试）· PM（产品管理），按 HLD 接口契约并行开发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项目关键数据与里程碑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MVP 交付成果 + 三版本规划数据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298448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接口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 路径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280160"/>
            <a:ext cx="129844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73736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SPA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80160"/>
            <a:ext cx="1298448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20040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单元+集成+安全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80160"/>
            <a:ext cx="1298448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66344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天总工期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版本 × 3 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280160"/>
            <a:ext cx="129844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12648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含规划版本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1280160"/>
            <a:ext cx="1298448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758952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ASR/评测/LLM/TTS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834640"/>
            <a:ext cx="8595360" cy="4114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成功指标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82880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注册→首次评测转化率 &gt;70%  |  首次对话完成率 &gt;50%  |  发音评测与人工评分偏差 ≤1 档  |  单次会话时长 &gt;8 分钟  |  四平台录音兼容通过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成功指标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82880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次日留存率 &gt;40%  |  7 日留存率 &gt;25%  |  人均每日练习次数 &gt;5 次  |  社区日均 UGC &gt;100 条  |  1000 并发压测通过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成功指标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828800" y="3931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教师→布置作业→点评完整流程通过  |  运营看板核心指标可查  |  智能客服自动解决率 &gt;60%  |  5000 并发压测通过  |  离线模式可用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关键风险与缓解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发音评测 API 效果不达预期 → 前 3 天前置验证 10 条样本，不达标立即切换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4800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微信浏览器录音不兼容 → 前 3 天四平台验证，WebM→WAV 降级方案已实现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" y="50017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40 天工期紧张 → 3 人并行最大化效率，API 契约先行，非核心功能果断后移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46320" y="50017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 评分一致性差 → 独立评分 + 低 Temperature(0.1-0.3) + 人工抽检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182880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英语口语训练系统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基于自然语言处理与大语言模型的智能口语学习平台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MVP ✅ 已完成  |  V2.0 增强版 ✅ 已完成  |  V3.0 完整版 🟣 规划中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· TypeScript · Tailwind CSS 4 · Zustand 5 · Spring Boot 3.2 · MyBatis-Plus 3.5 · MySQL 8.0 · Flyway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语音识别 · 音素级发音评测 · LLM 情景对话 · TTS 语音合成 · AI Gateway 统一代理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AI英语口语训练系统 — 项目演示</dc:title>
  <dc:subject>PptxGenJS Presentation</dc:subject>
  <dc:creator>AI英语口语训练系统团队</dc:creator>
  <cp:lastModifiedBy>AI英语口语训练系统团队</cp:lastModifiedBy>
  <cp:revision>1</cp:revision>
  <dcterms:created xsi:type="dcterms:W3CDTF">2026-07-02T12:39:50Z</dcterms:created>
  <dcterms:modified xsi:type="dcterms:W3CDTF">2026-07-02T12:39:50Z</dcterms:modified>
</cp:coreProperties>
</file>